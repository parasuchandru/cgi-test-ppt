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image" Target="../media/image-5-4.png"/><Relationship Id="rId6" Type="http://schemas.openxmlformats.org/officeDocument/2006/relationships/image" Target="../media/image-5-4.png"/><Relationship Id="rId7" Type="http://schemas.openxmlformats.org/officeDocument/2006/relationships/image" Target="../media/image-5-4.png"/><Relationship Id="rId8" Type="http://schemas.openxmlformats.org/officeDocument/2006/relationships/image" Target="../media/image-5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1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4754880" cy="4754880"/>
          </a:xfrm>
          <a:prstGeom prst="ellipse">
            <a:avLst/>
          </a:prstGeom>
          <a:solidFill>
            <a:srgbClr val="991F3D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463040"/>
            <a:ext cx="3657600" cy="3657600"/>
          </a:xfrm>
          <a:prstGeom prst="ellipse">
            <a:avLst/>
          </a:prstGeom>
          <a:solidFill>
            <a:srgbClr val="991F3D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206240"/>
            <a:ext cx="2743200" cy="2743200"/>
          </a:xfrm>
          <a:prstGeom prst="ellipse">
            <a:avLst/>
          </a:prstGeom>
          <a:solidFill>
            <a:srgbClr val="F2A200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RENEWAL INTELLIGENCE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520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B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analytics-led renewal retention layer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B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which policies will lapse, explains why, and recommends the right action —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B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your existing systems rather than replacing them.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Approach — Stage 0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828800" y="2194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201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lapse. We usually find out after it's too late to act.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blanket discount doesn't fix a service problem — and by the time we notice a dip, the customer's already gone.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1851660" y="2697480"/>
            <a:ext cx="1005840" cy="100584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9" name="Image 0" descr="/home/user/CGI-test-PPT/renewal-intelligence/pptx-build/icons/problem_la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062" y="2938882"/>
            <a:ext cx="523037" cy="52303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out too late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3434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policy shows up as “lapsed,” the moment to intervene has already passed.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23317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2F2F2"/>
          </a:solidFill>
          <a:ln/>
        </p:spPr>
      </p:sp>
      <p:sp>
        <p:nvSpPr>
          <p:cNvPr id="13" name="Shape 10"/>
          <p:cNvSpPr/>
          <p:nvPr/>
        </p:nvSpPr>
        <p:spPr>
          <a:xfrm>
            <a:off x="5600700" y="2697480"/>
            <a:ext cx="1005840" cy="100584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14" name="Image 1" descr="/home/user/CGI-test-PPT/renewal-intelligence/pptx-build/icons/problem_unsee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102" y="2938882"/>
            <a:ext cx="523037" cy="52303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17720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 into “why”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43434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policies up for renewal, 700 renew — nobody can say with confidence why the other 300 left.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23317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2F2F2"/>
          </a:solidFill>
          <a:ln/>
        </p:spPr>
      </p:sp>
      <p:sp>
        <p:nvSpPr>
          <p:cNvPr id="18" name="Shape 14"/>
          <p:cNvSpPr/>
          <p:nvPr/>
        </p:nvSpPr>
        <p:spPr>
          <a:xfrm>
            <a:off x="9349740" y="2697480"/>
            <a:ext cx="1005840" cy="100584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19" name="Image 2" descr="/home/user/CGI-test-PPT/renewal-intelligence/pptx-build/icons/problem_discoun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142" y="2938882"/>
            <a:ext cx="523037" cy="52303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66760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 for every problem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43434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discount gets offered even when the real issue was a bad claims experience or poor service.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828800" y="2194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201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is the product. AI chat is just one delivery channel.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idea led with a conversational agent. Your review feedback reordered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603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is not the answer for everything … what comes to my mind immediately is analytics.”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6301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A. Karanth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3317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5603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“Using AI, we should understand why there is a dip, what may be the reason.”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6301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S. Kamath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782312"/>
            <a:ext cx="914400" cy="91440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5" name="Image 0" descr="/home/user/CGI-test-PPT/renewal-intelligence/pptx-build/icons/changed_ai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010912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96596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pitch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965960" y="5120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a conversational renewal agent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26480" y="45262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DEDEF"/>
          </a:solidFill>
          <a:ln/>
        </p:spPr>
      </p:sp>
      <p:sp>
        <p:nvSpPr>
          <p:cNvPr id="19" name="Shape 16"/>
          <p:cNvSpPr/>
          <p:nvPr/>
        </p:nvSpPr>
        <p:spPr>
          <a:xfrm>
            <a:off x="6355080" y="4782312"/>
            <a:ext cx="914400" cy="91440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20" name="Image 1" descr="/home/user/CGI-test-PPT/renewal-intelligence/pptx-build/icons/changed_analytic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010912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45236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452360" y="5120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predicts and explains — the agent is one optional channel on top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828800" y="2194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201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steps, per policy, before renewal.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C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2468880"/>
            <a:ext cx="1051560" cy="105156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9" name="Image 0" descr="/home/user/CGI-test-PPT/renewal-intelligence/pptx-build/icons/step_predic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174" y="2721254"/>
            <a:ext cx="546811" cy="54681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3749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risk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2062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score per policy — not a black box. Every number can be challenged and audited.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87368" y="32004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4389120" y="178308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17720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C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5577840" y="2468880"/>
            <a:ext cx="1051560" cy="105156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16" name="Image 1" descr="/home/user/CGI-test-PPT/renewal-intelligence/pptx-build/icons/step_expl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214" y="2721254"/>
            <a:ext cx="546811" cy="54681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617720" y="3749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why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4709160" y="42062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into one of five causes: premium shock, competitive gap, service friction, disengagement, or claim experience.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7836408" y="32004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8138160" y="178308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2F2F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366760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C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Shape 18"/>
          <p:cNvSpPr/>
          <p:nvPr/>
        </p:nvSpPr>
        <p:spPr>
          <a:xfrm>
            <a:off x="9326880" y="2468880"/>
            <a:ext cx="1051560" cy="105156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23" name="Image 2" descr="/home/user/CGI-test-PPT/renewal-intelligence/pptx-build/icons/step_ac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254" y="2721254"/>
            <a:ext cx="546811" cy="546811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366760" y="3749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the right action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8458200" y="42062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the real cause — not always a discount — capped, and never released without human approval.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828800" y="2194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Boundaries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201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capability already exists, we feed it. We don't rebuild it.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scoped to avoid duplicating work already in flight.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EFF7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423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delivers</a:t>
            </a:r>
            <a:endParaRPr lang="en-US" sz="1600" dirty="0"/>
          </a:p>
        </p:txBody>
      </p:sp>
      <p:pic>
        <p:nvPicPr>
          <p:cNvPr id="9" name="Image 0" descr="/home/user/CGI-test-PPT/renewal-intelligence/pptx-build/icons/in_scop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0040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31272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list of at-risk policies</a:t>
            </a:r>
            <a:endParaRPr lang="en-US" sz="1450" dirty="0"/>
          </a:p>
        </p:txBody>
      </p:sp>
      <p:pic>
        <p:nvPicPr>
          <p:cNvPr id="11" name="Image 1" descr="/home/user/CGI-test-PPT/renewal-intelligence/pptx-build/icons/in_sco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1605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40873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each one is at risk</a:t>
            </a:r>
            <a:endParaRPr lang="en-US" sz="1450" dirty="0"/>
          </a:p>
        </p:txBody>
      </p:sp>
      <p:pic>
        <p:nvPicPr>
          <p:cNvPr id="13" name="Image 2" descr="/home/user/CGI-test-PPT/renewal-intelligence/pptx-build/icons/in_scope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12064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504748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recommended action, ready for approval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126480" y="214884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BEEF0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446520" y="2423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stays where it is</a:t>
            </a:r>
            <a:endParaRPr lang="en-US" sz="1600" dirty="0"/>
          </a:p>
        </p:txBody>
      </p:sp>
      <p:pic>
        <p:nvPicPr>
          <p:cNvPr id="17" name="Image 3" descr="/home/user/CGI-test-PPT/renewal-intelligence/pptx-build/icons/out_scope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9718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58000" y="29077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execution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6858000" y="3227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1050" dirty="0"/>
          </a:p>
        </p:txBody>
      </p:sp>
      <p:pic>
        <p:nvPicPr>
          <p:cNvPr id="20" name="Image 4" descr="/home/user/CGI-test-PPT/renewal-intelligence/pptx-build/icons/out_scope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593592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858000" y="35295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batch processing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6858000" y="38496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admin system</a:t>
            </a:r>
            <a:endParaRPr lang="en-US" sz="1050" dirty="0"/>
          </a:p>
        </p:txBody>
      </p:sp>
      <p:pic>
        <p:nvPicPr>
          <p:cNvPr id="23" name="Image 5" descr="/home/user/CGI-test-PPT/renewal-intelligence/pptx-build/icons/out_scope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215384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858000" y="415137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/ no-claims discounts</a:t>
            </a:r>
            <a:endParaRPr lang="en-US" sz="1250" dirty="0"/>
          </a:p>
        </p:txBody>
      </p:sp>
      <p:sp>
        <p:nvSpPr>
          <p:cNvPr id="25" name="Text 17"/>
          <p:cNvSpPr txBox="1"/>
          <p:nvPr/>
        </p:nvSpPr>
        <p:spPr>
          <a:xfrm>
            <a:off x="6858000" y="44714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rating systems</a:t>
            </a:r>
            <a:endParaRPr lang="en-US" sz="1050" dirty="0"/>
          </a:p>
        </p:txBody>
      </p:sp>
      <p:pic>
        <p:nvPicPr>
          <p:cNvPr id="26" name="Image 6" descr="/home/user/CGI-test-PPT/renewal-intelligence/pptx-build/icons/out_scope_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837176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58000" y="477316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the customer channel</a:t>
            </a:r>
            <a:endParaRPr lang="en-US" sz="1250" dirty="0"/>
          </a:p>
        </p:txBody>
      </p:sp>
      <p:sp>
        <p:nvSpPr>
          <p:cNvPr id="28" name="Text 19"/>
          <p:cNvSpPr txBox="1"/>
          <p:nvPr/>
        </p:nvSpPr>
        <p:spPr>
          <a:xfrm>
            <a:off x="6858000" y="5093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1050" dirty="0"/>
          </a:p>
        </p:txBody>
      </p:sp>
      <p:pic>
        <p:nvPicPr>
          <p:cNvPr id="29" name="Image 7" descr="/home/user/CGI-test-PPT/renewal-intelligence/pptx-build/icons/out_scope_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5458968"/>
            <a:ext cx="274320" cy="27432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858000" y="539496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 pricing copilot</a:t>
            </a:r>
            <a:endParaRPr lang="en-US" sz="1250" dirty="0"/>
          </a:p>
        </p:txBody>
      </p:sp>
      <p:sp>
        <p:nvSpPr>
          <p:cNvPr id="31" name="Text 21"/>
          <p:cNvSpPr txBox="1"/>
          <p:nvPr/>
        </p:nvSpPr>
        <p:spPr>
          <a:xfrm>
            <a:off x="6858000" y="5715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AccuWrite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828800" y="2194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201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tested — not just designed.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 realistic synthetic policy book, before any client data was requested.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26262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8716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31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(AUC)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221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0.72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22860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2626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48716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31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2.7×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random at flagging risk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8221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2.5×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2626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48716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31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8221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≤ 0.05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744200" cy="1188720"/>
          </a:xfrm>
          <a:prstGeom prst="roundRect">
            <a:avLst>
              <a:gd name="adj" fmla="val 6154"/>
            </a:avLst>
          </a:prstGeom>
          <a:solidFill>
            <a:srgbClr val="262626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773168"/>
            <a:ext cx="713232" cy="713232"/>
          </a:xfrm>
          <a:prstGeom prst="ellipse">
            <a:avLst/>
          </a:prstGeom>
          <a:solidFill>
            <a:srgbClr val="F2A200"/>
          </a:solidFill>
          <a:ln/>
        </p:spPr>
      </p:sp>
      <p:pic>
        <p:nvPicPr>
          <p:cNvPr id="21" name="Image 0" descr="/home/user/CGI-test-PPT/renewal-intelligence/pptx-build/icons/ask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877" y="4933645"/>
            <a:ext cx="392278" cy="39227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874520" y="4681728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holdout, built in from day one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874520" y="5047488"/>
            <a:ext cx="9235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group receives no treatment, so any retention uplift we report is measured, not assumed — a defensible business case, not a demo.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828800" y="2194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201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reaches a customer without a person signing off.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and compliance are design constraints, not an afterthought.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1485900" y="2651760"/>
            <a:ext cx="868680" cy="868680"/>
          </a:xfrm>
          <a:prstGeom prst="ellipse">
            <a:avLst/>
          </a:prstGeom>
          <a:solidFill>
            <a:srgbClr val="991F3D"/>
          </a:solidFill>
          <a:ln/>
        </p:spPr>
      </p:sp>
      <p:pic>
        <p:nvPicPr>
          <p:cNvPr id="9" name="Image 0" descr="/home/user/CGI-test-PPT/renewal-intelligence/pptx-build/icons/guard_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070" y="2868930"/>
            <a:ext cx="434340" cy="4343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04672" y="370332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4297680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on the server, not just hidden in the screen — every tier sees only what it should.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3456432" y="233172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</p:spPr>
      </p:sp>
      <p:sp>
        <p:nvSpPr>
          <p:cNvPr id="13" name="Shape 10"/>
          <p:cNvSpPr/>
          <p:nvPr/>
        </p:nvSpPr>
        <p:spPr>
          <a:xfrm>
            <a:off x="4302252" y="2651760"/>
            <a:ext cx="868680" cy="868680"/>
          </a:xfrm>
          <a:prstGeom prst="ellipse">
            <a:avLst/>
          </a:prstGeom>
          <a:solidFill>
            <a:srgbClr val="991F3D"/>
          </a:solidFill>
          <a:ln/>
        </p:spPr>
      </p:sp>
      <p:pic>
        <p:nvPicPr>
          <p:cNvPr id="14" name="Image 1" descr="/home/user/CGI-test-PPT/renewal-intelligence/pptx-build/icons/guard_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422" y="2868930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21024" y="370332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stay internal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4297680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staff and customers never see the raw risk number — only the reason and the recommendation.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6272784" y="233172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</p:spPr>
      </p:sp>
      <p:sp>
        <p:nvSpPr>
          <p:cNvPr id="18" name="Shape 14"/>
          <p:cNvSpPr/>
          <p:nvPr/>
        </p:nvSpPr>
        <p:spPr>
          <a:xfrm>
            <a:off x="7118604" y="2651760"/>
            <a:ext cx="868680" cy="868680"/>
          </a:xfrm>
          <a:prstGeom prst="ellipse">
            <a:avLst/>
          </a:prstGeom>
          <a:solidFill>
            <a:srgbClr val="991F3D"/>
          </a:solidFill>
          <a:ln/>
        </p:spPr>
      </p:sp>
      <p:pic>
        <p:nvPicPr>
          <p:cNvPr id="19" name="Image 2" descr="/home/user/CGI-test-PPT/renewal-intelligence/pptx-build/icons/guard_approv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774" y="2868930"/>
            <a:ext cx="434340" cy="4343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37376" y="370332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approval, always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473952" y="4297680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approved, rejected, or modified by a person before it goes anywhere.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9089136" y="233172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</p:spPr>
      </p:sp>
      <p:sp>
        <p:nvSpPr>
          <p:cNvPr id="23" name="Shape 18"/>
          <p:cNvSpPr/>
          <p:nvPr/>
        </p:nvSpPr>
        <p:spPr>
          <a:xfrm>
            <a:off x="9934956" y="2651760"/>
            <a:ext cx="868680" cy="868680"/>
          </a:xfrm>
          <a:prstGeom prst="ellipse">
            <a:avLst/>
          </a:prstGeom>
          <a:solidFill>
            <a:srgbClr val="991F3D"/>
          </a:solidFill>
          <a:ln/>
        </p:spPr>
      </p:sp>
      <p:pic>
        <p:nvPicPr>
          <p:cNvPr id="24" name="Image 3" descr="/home/user/CGI-test-PPT/renewal-intelligence/pptx-build/icons/guard_audi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2126" y="2868930"/>
            <a:ext cx="434340" cy="4343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53728" y="370332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trail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9290304" y="4297680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saw what, who approved what, and when — logged for every action, every time.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1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5029200" cy="5029200"/>
          </a:xfrm>
          <a:prstGeom prst="ellipse">
            <a:avLst/>
          </a:prstGeom>
          <a:solidFill>
            <a:srgbClr val="991F3D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smallest dataset that proves the next step.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B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full data extract. A staged path, so value is proven before any commitment grows.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991F3D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8620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1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56616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numbers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97764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B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 rate by line and segment — numbers you likely already have on hand.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26060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991F3D"/>
          </a:solidFill>
          <a:ln/>
        </p:spPr>
      </p:sp>
      <p:sp>
        <p:nvSpPr>
          <p:cNvPr id="12" name="Shape 10"/>
          <p:cNvSpPr/>
          <p:nvPr/>
        </p:nvSpPr>
        <p:spPr>
          <a:xfrm>
            <a:off x="4645152" y="28620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45152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1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356616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the model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397764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B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our five risk drivers match the reasons you're actually seeing.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26060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991F3D"/>
          </a:solidFill>
          <a:ln/>
        </p:spPr>
      </p:sp>
      <p:sp>
        <p:nvSpPr>
          <p:cNvPr id="17" name="Shape 15"/>
          <p:cNvSpPr/>
          <p:nvPr/>
        </p:nvSpPr>
        <p:spPr>
          <a:xfrm>
            <a:off x="8394192" y="28620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94192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1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94192" y="356616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together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397764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B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then discuss a pseudonymised extract and the next phase.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a business sponsor to champion Stage 1, and a short walkthrough to confirm we're not duplicating the self-service portal's existing offer work.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2026-08-27T06:17:56Z</dcterms:created>
  <dcterms:modified xsi:type="dcterms:W3CDTF">2026-08-27T06:17:56Z</dcterms:modified>
</cp:coreProperties>
</file>